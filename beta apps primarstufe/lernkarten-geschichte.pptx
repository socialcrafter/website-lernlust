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6C63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FF6B9D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3657600"/>
            <a:ext cx="2286000" cy="2286000"/>
          </a:xfrm>
          <a:prstGeom prst="ellipse">
            <a:avLst/>
          </a:prstGeom>
          <a:solidFill>
            <a:srgbClr val="4ECDC4">
              <a:alpha val="1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5486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463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Lernkarten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91440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8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Absolutismus, Aufklärung &amp; Schweiz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828800" y="3108960"/>
            <a:ext cx="5486400" cy="731520"/>
          </a:xfrm>
          <a:prstGeom prst="roundRect">
            <a:avLst>
              <a:gd name="adj" fmla="val 18750"/>
            </a:avLst>
          </a:prstGeom>
          <a:solidFill>
            <a:srgbClr val="2A2A4A"/>
          </a:solidFill>
          <a:ln w="12700">
            <a:solidFill>
              <a:srgbClr val="FFE66D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324612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60320" y="31089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E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anstrengen – einprägen!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Tippe oder klicke, um die Antwort zu sehen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1828800"/>
            <a:ext cx="2743200" cy="2743200"/>
          </a:xfrm>
          <a:prstGeom prst="ellipse">
            <a:avLst/>
          </a:prstGeom>
          <a:solidFill>
            <a:srgbClr val="FFD700">
              <a:alpha val="15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1887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Ludwig XIV.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Lernkarten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0" y="3840480"/>
            <a:ext cx="1828800" cy="36576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0" cy="109728"/>
          </a:xfrm>
          <a:prstGeom prst="roundRect">
            <a:avLst>
              <a:gd name="adj" fmla="val 50000"/>
            </a:avLst>
          </a:prstGeom>
          <a:solidFill>
            <a:srgbClr val="2A2A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633046" cy="109728"/>
          </a:xfrm>
          <a:prstGeom prst="roundRect">
            <a:avLst>
              <a:gd name="adj" fmla="val 50000"/>
            </a:avLst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Karte 1 von 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26080" y="86868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FFD700">
              <a:alpha val="20000"/>
            </a:srgbClr>
          </a:solidFill>
          <a:ln w="12700">
            <a:solidFill>
              <a:srgbClr val="FFD700">
                <a:alpha val="5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91440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29000" y="868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Ludwig XIV.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097280" y="1554480"/>
            <a:ext cx="6949440" cy="2377440"/>
          </a:xfrm>
          <a:prstGeom prst="roundRect">
            <a:avLst>
              <a:gd name="adj" fmla="val 7692"/>
            </a:avLst>
          </a:prstGeom>
          <a:solidFill>
            <a:srgbClr val="242447"/>
          </a:solidFill>
          <a:ln w="19050">
            <a:solidFill>
              <a:srgbClr val="3A3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463040" y="1645920"/>
            <a:ext cx="6217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bedeutet der Begriff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«Absolutismus»?</a:t>
            </a:r>
            <a:endParaRPr lang="en-US" sz="2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42062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14800" y="4206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 für die Lösung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0" cy="109728"/>
          </a:xfrm>
          <a:prstGeom prst="roundRect">
            <a:avLst>
              <a:gd name="adj" fmla="val 50000"/>
            </a:avLst>
          </a:prstGeom>
          <a:solidFill>
            <a:srgbClr val="2A2A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633046" cy="109728"/>
          </a:xfrm>
          <a:prstGeom prst="roundRect">
            <a:avLst>
              <a:gd name="adj" fmla="val 50000"/>
            </a:avLst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Karte 1 von 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26080" y="86868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FFD700">
              <a:alpha val="20000"/>
            </a:srgbClr>
          </a:solidFill>
          <a:ln w="12700">
            <a:solidFill>
              <a:srgbClr val="FFD700">
                <a:alpha val="5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91440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29000" y="868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Ludwig XIV.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097280" y="1554480"/>
            <a:ext cx="6949440" cy="2377440"/>
          </a:xfrm>
          <a:prstGeom prst="roundRect">
            <a:avLst>
              <a:gd name="adj" fmla="val 7692"/>
            </a:avLst>
          </a:prstGeom>
          <a:solidFill>
            <a:srgbClr val="1A3A38"/>
          </a:solidFill>
          <a:ln w="25400">
            <a:solidFill>
              <a:srgbClr val="4ECD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463040" y="16916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bedeutet der Begriff «Absolutismus»?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463040" y="2103120"/>
            <a:ext cx="621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Regierungsform, in der der König «losgelöst» von Gesetzen herrscht.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allein macht die Gesetze, ist oberster Richter und Befehlshaber der Armee.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akzeptiert nur Gott als Autorität über sich.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4400" y="4206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Einprägen und weiter!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0" cy="109728"/>
          </a:xfrm>
          <a:prstGeom prst="roundRect">
            <a:avLst>
              <a:gd name="adj" fmla="val 50000"/>
            </a:avLst>
          </a:prstGeom>
          <a:solidFill>
            <a:srgbClr val="2A2A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266092" cy="109728"/>
          </a:xfrm>
          <a:prstGeom prst="roundRect">
            <a:avLst>
              <a:gd name="adj" fmla="val 50000"/>
            </a:avLst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Karte 2 von 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26080" y="86868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FFD700">
              <a:alpha val="20000"/>
            </a:srgbClr>
          </a:solidFill>
          <a:ln w="12700">
            <a:solidFill>
              <a:srgbClr val="FFD700">
                <a:alpha val="5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91440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29000" y="868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Ludwig XIV.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097280" y="1554480"/>
            <a:ext cx="6949440" cy="2377440"/>
          </a:xfrm>
          <a:prstGeom prst="roundRect">
            <a:avLst>
              <a:gd name="adj" fmla="val 7692"/>
            </a:avLst>
          </a:prstGeom>
          <a:solidFill>
            <a:srgbClr val="242447"/>
          </a:solidFill>
          <a:ln w="19050">
            <a:solidFill>
              <a:srgbClr val="3A3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463040" y="1645920"/>
            <a:ext cx="6217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wird Ludwig XIV.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«Sonnenkönig» genannt?</a:t>
            </a:r>
            <a:endParaRPr lang="en-US" sz="2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42062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14800" y="4206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 für die Lösung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0" cy="109728"/>
          </a:xfrm>
          <a:prstGeom prst="roundRect">
            <a:avLst>
              <a:gd name="adj" fmla="val 50000"/>
            </a:avLst>
          </a:prstGeom>
          <a:solidFill>
            <a:srgbClr val="2A2A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266092" cy="109728"/>
          </a:xfrm>
          <a:prstGeom prst="roundRect">
            <a:avLst>
              <a:gd name="adj" fmla="val 50000"/>
            </a:avLst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Karte 2 von 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26080" y="86868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FFD700">
              <a:alpha val="20000"/>
            </a:srgbClr>
          </a:solidFill>
          <a:ln w="12700">
            <a:solidFill>
              <a:srgbClr val="FFD700">
                <a:alpha val="5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91440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29000" y="868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Ludwig XIV.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097280" y="1554480"/>
            <a:ext cx="6949440" cy="2377440"/>
          </a:xfrm>
          <a:prstGeom prst="roundRect">
            <a:avLst>
              <a:gd name="adj" fmla="val 7692"/>
            </a:avLst>
          </a:prstGeom>
          <a:solidFill>
            <a:srgbClr val="1A3A38"/>
          </a:solidFill>
          <a:ln w="25400">
            <a:solidFill>
              <a:srgbClr val="4ECD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463040" y="16916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wird Ludwig XIV. «Sonnenkönig» genannt?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463040" y="2103120"/>
            <a:ext cx="621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wählte die Sonne als Symbol, weil sie das Zentrum ist, um das sich alles dreht.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die Sonne Glanz ausstrahlt und Leben gibt, wollte er der strahlende Mittelpunkt Frankreichs sein.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4400" y="4206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Einprägen und weiter!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0" cy="109728"/>
          </a:xfrm>
          <a:prstGeom prst="roundRect">
            <a:avLst>
              <a:gd name="adj" fmla="val 50000"/>
            </a:avLst>
          </a:prstGeom>
          <a:solidFill>
            <a:srgbClr val="2A2A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899138" cy="109728"/>
          </a:xfrm>
          <a:prstGeom prst="roundRect">
            <a:avLst>
              <a:gd name="adj" fmla="val 50000"/>
            </a:avLst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Karte 3 von 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26080" y="86868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FFD700">
              <a:alpha val="20000"/>
            </a:srgbClr>
          </a:solidFill>
          <a:ln w="12700">
            <a:solidFill>
              <a:srgbClr val="FFD700">
                <a:alpha val="5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91440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29000" y="868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Ludwig XIV.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097280" y="1554480"/>
            <a:ext cx="6949440" cy="2377440"/>
          </a:xfrm>
          <a:prstGeom prst="roundRect">
            <a:avLst>
              <a:gd name="adj" fmla="val 7692"/>
            </a:avLst>
          </a:prstGeom>
          <a:solidFill>
            <a:srgbClr val="242447"/>
          </a:solidFill>
          <a:ln w="19050">
            <a:solidFill>
              <a:srgbClr val="3A3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463040" y="1645920"/>
            <a:ext cx="6217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Nenne die «drei Säulen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Macht» im Absolutismus.</a:t>
            </a:r>
            <a:endParaRPr lang="en-US" sz="2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42062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14800" y="4206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 für die Lösung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0" cy="109728"/>
          </a:xfrm>
          <a:prstGeom prst="roundRect">
            <a:avLst>
              <a:gd name="adj" fmla="val 50000"/>
            </a:avLst>
          </a:prstGeom>
          <a:solidFill>
            <a:srgbClr val="2A2A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899138" cy="109728"/>
          </a:xfrm>
          <a:prstGeom prst="roundRect">
            <a:avLst>
              <a:gd name="adj" fmla="val 50000"/>
            </a:avLst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Karte 3 von 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26080" y="86868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FFD700">
              <a:alpha val="20000"/>
            </a:srgbClr>
          </a:solidFill>
          <a:ln w="12700">
            <a:solidFill>
              <a:srgbClr val="FFD700">
                <a:alpha val="5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91440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29000" y="868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Ludwig XIV.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097280" y="1554480"/>
            <a:ext cx="6949440" cy="2377440"/>
          </a:xfrm>
          <a:prstGeom prst="roundRect">
            <a:avLst>
              <a:gd name="adj" fmla="val 7692"/>
            </a:avLst>
          </a:prstGeom>
          <a:solidFill>
            <a:srgbClr val="1A3A38"/>
          </a:solidFill>
          <a:ln w="25400">
            <a:solidFill>
              <a:srgbClr val="4ECD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463040" y="16916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Nenne die «drei Säulen der Macht» im Absolutismus.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463040" y="2103120"/>
            <a:ext cx="621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Das stehende Heer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(ständige Armee)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Die Beamten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(führen Befehle im ganzen Land aus)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Die Staatseinnahmen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(Steuern für Luxus und Armee)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4400" y="4206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Einprägen und weiter!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1828800"/>
            <a:ext cx="2743200" cy="2743200"/>
          </a:xfrm>
          <a:prstGeom prst="ellipse">
            <a:avLst/>
          </a:prstGeom>
          <a:solidFill>
            <a:srgbClr val="4ECDC4">
              <a:alpha val="15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1887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Wirtschaft &amp; Gesellschaft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Lernkarten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0" y="3840480"/>
            <a:ext cx="1828800" cy="36576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0" cy="109728"/>
          </a:xfrm>
          <a:prstGeom prst="roundRect">
            <a:avLst>
              <a:gd name="adj" fmla="val 50000"/>
            </a:avLst>
          </a:prstGeom>
          <a:solidFill>
            <a:srgbClr val="2A2A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2532185" cy="109728"/>
          </a:xfrm>
          <a:prstGeom prst="roundRect">
            <a:avLst>
              <a:gd name="adj" fmla="val 50000"/>
            </a:avLst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Karte 4 von 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26080" y="86868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4ECDC4">
              <a:alpha val="20000"/>
            </a:srgbClr>
          </a:solidFill>
          <a:ln w="12700">
            <a:solidFill>
              <a:srgbClr val="4ECDC4">
                <a:alpha val="5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91440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29000" y="868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Wirtschaft &amp; Gesellschaft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097280" y="1554480"/>
            <a:ext cx="6949440" cy="2377440"/>
          </a:xfrm>
          <a:prstGeom prst="roundRect">
            <a:avLst>
              <a:gd name="adj" fmla="val 7692"/>
            </a:avLst>
          </a:prstGeom>
          <a:solidFill>
            <a:srgbClr val="242447"/>
          </a:solidFill>
          <a:ln w="19050">
            <a:solidFill>
              <a:srgbClr val="3A3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463040" y="1645920"/>
            <a:ext cx="6217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ist das Ziel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«Merkantilismus»?</a:t>
            </a:r>
            <a:endParaRPr lang="en-US" sz="2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42062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14800" y="4206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 für die Lösung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0" cy="109728"/>
          </a:xfrm>
          <a:prstGeom prst="roundRect">
            <a:avLst>
              <a:gd name="adj" fmla="val 50000"/>
            </a:avLst>
          </a:prstGeom>
          <a:solidFill>
            <a:srgbClr val="2A2A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2532185" cy="109728"/>
          </a:xfrm>
          <a:prstGeom prst="roundRect">
            <a:avLst>
              <a:gd name="adj" fmla="val 50000"/>
            </a:avLst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Karte 4 von 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26080" y="86868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4ECDC4">
              <a:alpha val="20000"/>
            </a:srgbClr>
          </a:solidFill>
          <a:ln w="12700">
            <a:solidFill>
              <a:srgbClr val="4ECDC4">
                <a:alpha val="5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91440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29000" y="868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Wirtschaft &amp; Gesellschaft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097280" y="1554480"/>
            <a:ext cx="6949440" cy="2377440"/>
          </a:xfrm>
          <a:prstGeom prst="roundRect">
            <a:avLst>
              <a:gd name="adj" fmla="val 7692"/>
            </a:avLst>
          </a:prstGeom>
          <a:solidFill>
            <a:srgbClr val="1A3A38"/>
          </a:solidFill>
          <a:ln w="25400">
            <a:solidFill>
              <a:srgbClr val="4ECD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463040" y="16916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ist das Ziel des «Merkantilismus»?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463040" y="2103120"/>
            <a:ext cx="621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 Reichtum des Staates vergrössern.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exportierte teure Fertigwaren ins Ausland und erhob hohe Zölle auf Importe, damit möglichst viel Geld im Land blieb.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4400" y="4206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Einprägen und weiter!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0" cy="109728"/>
          </a:xfrm>
          <a:prstGeom prst="roundRect">
            <a:avLst>
              <a:gd name="adj" fmla="val 50000"/>
            </a:avLst>
          </a:prstGeom>
          <a:solidFill>
            <a:srgbClr val="2A2A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3165231" cy="109728"/>
          </a:xfrm>
          <a:prstGeom prst="roundRect">
            <a:avLst>
              <a:gd name="adj" fmla="val 50000"/>
            </a:avLst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Karte 5 von 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26080" y="86868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4ECDC4">
              <a:alpha val="20000"/>
            </a:srgbClr>
          </a:solidFill>
          <a:ln w="12700">
            <a:solidFill>
              <a:srgbClr val="4ECDC4">
                <a:alpha val="5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91440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29000" y="868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Wirtschaft &amp; Gesellschaft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097280" y="1554480"/>
            <a:ext cx="6949440" cy="2377440"/>
          </a:xfrm>
          <a:prstGeom prst="roundRect">
            <a:avLst>
              <a:gd name="adj" fmla="val 7692"/>
            </a:avLst>
          </a:prstGeom>
          <a:solidFill>
            <a:srgbClr val="242447"/>
          </a:solidFill>
          <a:ln w="19050">
            <a:solidFill>
              <a:srgbClr val="3A3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463040" y="1645920"/>
            <a:ext cx="6217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war die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«Ständegesellschaft» aufgebaut?</a:t>
            </a:r>
            <a:endParaRPr lang="en-US" sz="2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42062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14800" y="4206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 für die Lösung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0" cy="109728"/>
          </a:xfrm>
          <a:prstGeom prst="roundRect">
            <a:avLst>
              <a:gd name="adj" fmla="val 50000"/>
            </a:avLst>
          </a:prstGeom>
          <a:solidFill>
            <a:srgbClr val="2A2A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3165231" cy="109728"/>
          </a:xfrm>
          <a:prstGeom prst="roundRect">
            <a:avLst>
              <a:gd name="adj" fmla="val 50000"/>
            </a:avLst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Karte 5 von 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26080" y="86868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4ECDC4">
              <a:alpha val="20000"/>
            </a:srgbClr>
          </a:solidFill>
          <a:ln w="12700">
            <a:solidFill>
              <a:srgbClr val="4ECDC4">
                <a:alpha val="5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91440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29000" y="868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Wirtschaft &amp; Gesellschaft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097280" y="1554480"/>
            <a:ext cx="6949440" cy="2377440"/>
          </a:xfrm>
          <a:prstGeom prst="roundRect">
            <a:avLst>
              <a:gd name="adj" fmla="val 7692"/>
            </a:avLst>
          </a:prstGeom>
          <a:solidFill>
            <a:srgbClr val="1A3A38"/>
          </a:solidFill>
          <a:ln w="25400">
            <a:solidFill>
              <a:srgbClr val="4ECD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463040" y="16916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war die «Ständegesellschaft» aufgebaut?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463040" y="2103120"/>
            <a:ext cx="621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Stand: Geistliche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Stand: Adel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Stand: Bauern und Bürger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(98% der Bevölkerung)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Wichtig: Nur der 3. Stand zahlte Steuern.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4400" y="4206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Einprägen und weiter!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1828800"/>
            <a:ext cx="2743200" cy="2743200"/>
          </a:xfrm>
          <a:prstGeom prst="ellipse">
            <a:avLst/>
          </a:prstGeom>
          <a:solidFill>
            <a:srgbClr val="FFE66D">
              <a:alpha val="15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1887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Aufklärung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Lernkarten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0" y="3840480"/>
            <a:ext cx="1828800" cy="36576"/>
          </a:xfrm>
          <a:prstGeom prst="rect">
            <a:avLst/>
          </a:prstGeom>
          <a:solidFill>
            <a:srgbClr val="FFE66D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0" cy="109728"/>
          </a:xfrm>
          <a:prstGeom prst="roundRect">
            <a:avLst>
              <a:gd name="adj" fmla="val 50000"/>
            </a:avLst>
          </a:prstGeom>
          <a:solidFill>
            <a:srgbClr val="2A2A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3798277" cy="109728"/>
          </a:xfrm>
          <a:prstGeom prst="roundRect">
            <a:avLst>
              <a:gd name="adj" fmla="val 50000"/>
            </a:avLst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Karte 6 von 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26080" y="86868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FFE66D">
              <a:alpha val="20000"/>
            </a:srgbClr>
          </a:solidFill>
          <a:ln w="12700">
            <a:solidFill>
              <a:srgbClr val="FFE66D">
                <a:alpha val="5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91440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29000" y="868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E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Aufklärung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097280" y="1554480"/>
            <a:ext cx="6949440" cy="2377440"/>
          </a:xfrm>
          <a:prstGeom prst="roundRect">
            <a:avLst>
              <a:gd name="adj" fmla="val 7692"/>
            </a:avLst>
          </a:prstGeom>
          <a:solidFill>
            <a:srgbClr val="242447"/>
          </a:solidFill>
          <a:ln w="19050">
            <a:solidFill>
              <a:srgbClr val="3A3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463040" y="1645920"/>
            <a:ext cx="6217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ist das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«Zeitalter der Aufklärung»?</a:t>
            </a:r>
            <a:endParaRPr lang="en-US" sz="2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42062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14800" y="4206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 für die Lösung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0" cy="109728"/>
          </a:xfrm>
          <a:prstGeom prst="roundRect">
            <a:avLst>
              <a:gd name="adj" fmla="val 50000"/>
            </a:avLst>
          </a:prstGeom>
          <a:solidFill>
            <a:srgbClr val="2A2A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3798277" cy="109728"/>
          </a:xfrm>
          <a:prstGeom prst="roundRect">
            <a:avLst>
              <a:gd name="adj" fmla="val 50000"/>
            </a:avLst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Karte 6 von 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26080" y="86868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FFE66D">
              <a:alpha val="20000"/>
            </a:srgbClr>
          </a:solidFill>
          <a:ln w="12700">
            <a:solidFill>
              <a:srgbClr val="FFE66D">
                <a:alpha val="5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91440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29000" y="868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E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Aufklärung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097280" y="1554480"/>
            <a:ext cx="6949440" cy="2377440"/>
          </a:xfrm>
          <a:prstGeom prst="roundRect">
            <a:avLst>
              <a:gd name="adj" fmla="val 7692"/>
            </a:avLst>
          </a:prstGeom>
          <a:solidFill>
            <a:srgbClr val="1A3A38"/>
          </a:solidFill>
          <a:ln w="25400">
            <a:solidFill>
              <a:srgbClr val="4ECD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463040" y="16916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ist das «Zeitalter der Aufklärung»?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463040" y="2103120"/>
            <a:ext cx="621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Zeit im 17./18. Jahrhundert, in der die Vernunft wichtig wurde.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hinterfragte Kirche und König – Menschen sollten eigenständig denken.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4400" y="4206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Einprägen und weiter!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0" cy="109728"/>
          </a:xfrm>
          <a:prstGeom prst="roundRect">
            <a:avLst>
              <a:gd name="adj" fmla="val 50000"/>
            </a:avLst>
          </a:prstGeom>
          <a:solidFill>
            <a:srgbClr val="2A2A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4431323" cy="109728"/>
          </a:xfrm>
          <a:prstGeom prst="roundRect">
            <a:avLst>
              <a:gd name="adj" fmla="val 50000"/>
            </a:avLst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Karte 7 von 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26080" y="86868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FFE66D">
              <a:alpha val="20000"/>
            </a:srgbClr>
          </a:solidFill>
          <a:ln w="12700">
            <a:solidFill>
              <a:srgbClr val="FFE66D">
                <a:alpha val="5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91440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29000" y="868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E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Aufklärung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097280" y="1554480"/>
            <a:ext cx="6949440" cy="2377440"/>
          </a:xfrm>
          <a:prstGeom prst="roundRect">
            <a:avLst>
              <a:gd name="adj" fmla="val 7692"/>
            </a:avLst>
          </a:prstGeom>
          <a:solidFill>
            <a:srgbClr val="242447"/>
          </a:solidFill>
          <a:ln w="19050">
            <a:solidFill>
              <a:srgbClr val="3A3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463040" y="1645920"/>
            <a:ext cx="6217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Rechte hat jeder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Mensch laut John Locke?</a:t>
            </a:r>
            <a:endParaRPr lang="en-US" sz="2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42062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14800" y="4206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 für die Lösung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0" cy="109728"/>
          </a:xfrm>
          <a:prstGeom prst="roundRect">
            <a:avLst>
              <a:gd name="adj" fmla="val 50000"/>
            </a:avLst>
          </a:prstGeom>
          <a:solidFill>
            <a:srgbClr val="2A2A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4431323" cy="109728"/>
          </a:xfrm>
          <a:prstGeom prst="roundRect">
            <a:avLst>
              <a:gd name="adj" fmla="val 50000"/>
            </a:avLst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Karte 7 von 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26080" y="86868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FFE66D">
              <a:alpha val="20000"/>
            </a:srgbClr>
          </a:solidFill>
          <a:ln w="12700">
            <a:solidFill>
              <a:srgbClr val="FFE66D">
                <a:alpha val="5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91440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29000" y="868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E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Aufklärung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097280" y="1554480"/>
            <a:ext cx="6949440" cy="2377440"/>
          </a:xfrm>
          <a:prstGeom prst="roundRect">
            <a:avLst>
              <a:gd name="adj" fmla="val 7692"/>
            </a:avLst>
          </a:prstGeom>
          <a:solidFill>
            <a:srgbClr val="1A3A38"/>
          </a:solidFill>
          <a:ln w="25400">
            <a:solidFill>
              <a:srgbClr val="4ECD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463040" y="16916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Rechte hat jeder Mensch laut John Locke?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463040" y="2103120"/>
            <a:ext cx="621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Recht auf Leben, Freiheit und Eigentum.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Regierung darf nur herrschen, wenn das Volk zustimmt.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4400" y="4206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Einprägen und weiter!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1828800"/>
            <a:ext cx="2743200" cy="2743200"/>
          </a:xfrm>
          <a:prstGeom prst="ellipse">
            <a:avLst/>
          </a:prstGeom>
          <a:solidFill>
            <a:srgbClr val="8B85FF">
              <a:alpha val="15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1887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Gewaltenteilung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Lernkarten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0" y="3840480"/>
            <a:ext cx="1828800" cy="36576"/>
          </a:xfrm>
          <a:prstGeom prst="rect">
            <a:avLst/>
          </a:prstGeom>
          <a:solidFill>
            <a:srgbClr val="8B85FF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0" cy="109728"/>
          </a:xfrm>
          <a:prstGeom prst="roundRect">
            <a:avLst>
              <a:gd name="adj" fmla="val 50000"/>
            </a:avLst>
          </a:prstGeom>
          <a:solidFill>
            <a:srgbClr val="2A2A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5064369" cy="109728"/>
          </a:xfrm>
          <a:prstGeom prst="roundRect">
            <a:avLst>
              <a:gd name="adj" fmla="val 50000"/>
            </a:avLst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Karte 8 von 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26080" y="86868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8B85FF">
              <a:alpha val="20000"/>
            </a:srgbClr>
          </a:solidFill>
          <a:ln w="12700">
            <a:solidFill>
              <a:srgbClr val="8B85FF">
                <a:alpha val="5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91440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29000" y="868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8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Gewaltenteilung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097280" y="1554480"/>
            <a:ext cx="6949440" cy="2377440"/>
          </a:xfrm>
          <a:prstGeom prst="roundRect">
            <a:avLst>
              <a:gd name="adj" fmla="val 7692"/>
            </a:avLst>
          </a:prstGeom>
          <a:solidFill>
            <a:srgbClr val="242447"/>
          </a:solidFill>
          <a:ln w="19050">
            <a:solidFill>
              <a:srgbClr val="3A3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463040" y="1645920"/>
            <a:ext cx="6217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ist die Legislative?</a:t>
            </a:r>
            <a:endParaRPr lang="en-US" sz="2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42062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14800" y="4206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 für die Lösung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0" cy="109728"/>
          </a:xfrm>
          <a:prstGeom prst="roundRect">
            <a:avLst>
              <a:gd name="adj" fmla="val 50000"/>
            </a:avLst>
          </a:prstGeom>
          <a:solidFill>
            <a:srgbClr val="2A2A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5064369" cy="109728"/>
          </a:xfrm>
          <a:prstGeom prst="roundRect">
            <a:avLst>
              <a:gd name="adj" fmla="val 50000"/>
            </a:avLst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Karte 8 von 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26080" y="86868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8B85FF">
              <a:alpha val="20000"/>
            </a:srgbClr>
          </a:solidFill>
          <a:ln w="12700">
            <a:solidFill>
              <a:srgbClr val="8B85FF">
                <a:alpha val="5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91440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29000" y="868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8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Gewaltenteilung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097280" y="1554480"/>
            <a:ext cx="6949440" cy="2377440"/>
          </a:xfrm>
          <a:prstGeom prst="roundRect">
            <a:avLst>
              <a:gd name="adj" fmla="val 7692"/>
            </a:avLst>
          </a:prstGeom>
          <a:solidFill>
            <a:srgbClr val="1A3A38"/>
          </a:solidFill>
          <a:ln w="25400">
            <a:solidFill>
              <a:srgbClr val="4ECD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463040" y="16916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ist die Legislative?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463040" y="2103120"/>
            <a:ext cx="621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gesetzgebende Gewalt.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der Schweiz: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Bundesversammlung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(Nationalrat und Ständerat)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4400" y="4206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Einprägen und weiter!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0" cy="109728"/>
          </a:xfrm>
          <a:prstGeom prst="roundRect">
            <a:avLst>
              <a:gd name="adj" fmla="val 50000"/>
            </a:avLst>
          </a:prstGeom>
          <a:solidFill>
            <a:srgbClr val="2A2A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5697415" cy="109728"/>
          </a:xfrm>
          <a:prstGeom prst="roundRect">
            <a:avLst>
              <a:gd name="adj" fmla="val 50000"/>
            </a:avLst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Karte 9 von 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26080" y="86868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8B85FF">
              <a:alpha val="20000"/>
            </a:srgbClr>
          </a:solidFill>
          <a:ln w="12700">
            <a:solidFill>
              <a:srgbClr val="8B85FF">
                <a:alpha val="5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91440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29000" y="868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8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Gewaltenteilung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097280" y="1554480"/>
            <a:ext cx="6949440" cy="2377440"/>
          </a:xfrm>
          <a:prstGeom prst="roundRect">
            <a:avLst>
              <a:gd name="adj" fmla="val 7692"/>
            </a:avLst>
          </a:prstGeom>
          <a:solidFill>
            <a:srgbClr val="242447"/>
          </a:solidFill>
          <a:ln w="19050">
            <a:solidFill>
              <a:srgbClr val="3A3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463040" y="1645920"/>
            <a:ext cx="6217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ist die Exekutive?</a:t>
            </a:r>
            <a:endParaRPr lang="en-US" sz="2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42062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14800" y="4206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 für die Lösung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0" cy="109728"/>
          </a:xfrm>
          <a:prstGeom prst="roundRect">
            <a:avLst>
              <a:gd name="adj" fmla="val 50000"/>
            </a:avLst>
          </a:prstGeom>
          <a:solidFill>
            <a:srgbClr val="2A2A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5697415" cy="109728"/>
          </a:xfrm>
          <a:prstGeom prst="roundRect">
            <a:avLst>
              <a:gd name="adj" fmla="val 50000"/>
            </a:avLst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Karte 9 von 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26080" y="86868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8B85FF">
              <a:alpha val="20000"/>
            </a:srgbClr>
          </a:solidFill>
          <a:ln w="12700">
            <a:solidFill>
              <a:srgbClr val="8B85FF">
                <a:alpha val="5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91440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29000" y="868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8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Gewaltenteilung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097280" y="1554480"/>
            <a:ext cx="6949440" cy="2377440"/>
          </a:xfrm>
          <a:prstGeom prst="roundRect">
            <a:avLst>
              <a:gd name="adj" fmla="val 7692"/>
            </a:avLst>
          </a:prstGeom>
          <a:solidFill>
            <a:srgbClr val="1A3A38"/>
          </a:solidFill>
          <a:ln w="25400">
            <a:solidFill>
              <a:srgbClr val="4ECD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463040" y="16916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ist die Exekutive?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463040" y="2103120"/>
            <a:ext cx="621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ausführende Gewalt (Regierung).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der Schweiz: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7 Bundesräte und die Verwaltung.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4400" y="4206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Einprägen und weiter!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0" cy="109728"/>
          </a:xfrm>
          <a:prstGeom prst="roundRect">
            <a:avLst>
              <a:gd name="adj" fmla="val 50000"/>
            </a:avLst>
          </a:prstGeom>
          <a:solidFill>
            <a:srgbClr val="2A2A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6330462" cy="109728"/>
          </a:xfrm>
          <a:prstGeom prst="roundRect">
            <a:avLst>
              <a:gd name="adj" fmla="val 50000"/>
            </a:avLst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Karte 10 von 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26080" y="86868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8B85FF">
              <a:alpha val="20000"/>
            </a:srgbClr>
          </a:solidFill>
          <a:ln w="12700">
            <a:solidFill>
              <a:srgbClr val="8B85FF">
                <a:alpha val="5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91440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29000" y="868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8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Gewaltenteilung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097280" y="1554480"/>
            <a:ext cx="6949440" cy="2377440"/>
          </a:xfrm>
          <a:prstGeom prst="roundRect">
            <a:avLst>
              <a:gd name="adj" fmla="val 7692"/>
            </a:avLst>
          </a:prstGeom>
          <a:solidFill>
            <a:srgbClr val="242447"/>
          </a:solidFill>
          <a:ln w="19050">
            <a:solidFill>
              <a:srgbClr val="3A3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463040" y="1645920"/>
            <a:ext cx="6217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ist die Judikative?</a:t>
            </a:r>
            <a:endParaRPr lang="en-US" sz="2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42062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14800" y="4206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 für die Lösung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0" cy="109728"/>
          </a:xfrm>
          <a:prstGeom prst="roundRect">
            <a:avLst>
              <a:gd name="adj" fmla="val 50000"/>
            </a:avLst>
          </a:prstGeom>
          <a:solidFill>
            <a:srgbClr val="2A2A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6330462" cy="109728"/>
          </a:xfrm>
          <a:prstGeom prst="roundRect">
            <a:avLst>
              <a:gd name="adj" fmla="val 50000"/>
            </a:avLst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Karte 10 von 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26080" y="86868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8B85FF">
              <a:alpha val="20000"/>
            </a:srgbClr>
          </a:solidFill>
          <a:ln w="12700">
            <a:solidFill>
              <a:srgbClr val="8B85FF">
                <a:alpha val="5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91440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29000" y="868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8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Gewaltenteilung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097280" y="1554480"/>
            <a:ext cx="6949440" cy="2377440"/>
          </a:xfrm>
          <a:prstGeom prst="roundRect">
            <a:avLst>
              <a:gd name="adj" fmla="val 7692"/>
            </a:avLst>
          </a:prstGeom>
          <a:solidFill>
            <a:srgbClr val="1A3A38"/>
          </a:solidFill>
          <a:ln w="25400">
            <a:solidFill>
              <a:srgbClr val="4ECD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463040" y="16916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ist die Judikative?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463040" y="2103120"/>
            <a:ext cx="621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richterliche Gewalt (Gerichte).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 überprüfen, ob Gesetze eingehalten werden.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4400" y="4206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Einprägen und weiter!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0" cy="109728"/>
          </a:xfrm>
          <a:prstGeom prst="roundRect">
            <a:avLst>
              <a:gd name="adj" fmla="val 50000"/>
            </a:avLst>
          </a:prstGeom>
          <a:solidFill>
            <a:srgbClr val="2A2A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6963508" cy="109728"/>
          </a:xfrm>
          <a:prstGeom prst="roundRect">
            <a:avLst>
              <a:gd name="adj" fmla="val 50000"/>
            </a:avLst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Karte 11 von 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26080" y="86868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8B85FF">
              <a:alpha val="20000"/>
            </a:srgbClr>
          </a:solidFill>
          <a:ln w="12700">
            <a:solidFill>
              <a:srgbClr val="8B85FF">
                <a:alpha val="5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91440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29000" y="868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8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Gewaltenteilung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097280" y="1554480"/>
            <a:ext cx="6949440" cy="2377440"/>
          </a:xfrm>
          <a:prstGeom prst="roundRect">
            <a:avLst>
              <a:gd name="adj" fmla="val 7692"/>
            </a:avLst>
          </a:prstGeom>
          <a:solidFill>
            <a:srgbClr val="242447"/>
          </a:solidFill>
          <a:ln w="19050">
            <a:solidFill>
              <a:srgbClr val="3A3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463040" y="1645920"/>
            <a:ext cx="6217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ist die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Gewaltenteilung so wichtig?</a:t>
            </a:r>
            <a:endParaRPr lang="en-US" sz="2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42062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14800" y="4206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 für die Lösung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0" cy="109728"/>
          </a:xfrm>
          <a:prstGeom prst="roundRect">
            <a:avLst>
              <a:gd name="adj" fmla="val 50000"/>
            </a:avLst>
          </a:prstGeom>
          <a:solidFill>
            <a:srgbClr val="2A2A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6963508" cy="109728"/>
          </a:xfrm>
          <a:prstGeom prst="roundRect">
            <a:avLst>
              <a:gd name="adj" fmla="val 50000"/>
            </a:avLst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Karte 11 von 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26080" y="86868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8B85FF">
              <a:alpha val="20000"/>
            </a:srgbClr>
          </a:solidFill>
          <a:ln w="12700">
            <a:solidFill>
              <a:srgbClr val="8B85FF">
                <a:alpha val="5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91440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29000" y="868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8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Gewaltenteilung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097280" y="1554480"/>
            <a:ext cx="6949440" cy="2377440"/>
          </a:xfrm>
          <a:prstGeom prst="roundRect">
            <a:avLst>
              <a:gd name="adj" fmla="val 7692"/>
            </a:avLst>
          </a:prstGeom>
          <a:solidFill>
            <a:srgbClr val="1A3A38"/>
          </a:solidFill>
          <a:ln w="25400">
            <a:solidFill>
              <a:srgbClr val="4ECD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463040" y="16916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ist die Gewaltenteilung so wichtig?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463040" y="2103120"/>
            <a:ext cx="621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Machtmissbrauch zu verhindern.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drei Gewalten kontrollieren sich gegenseitig.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4400" y="4206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Einprägen und weiter!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1828800"/>
            <a:ext cx="2743200" cy="2743200"/>
          </a:xfrm>
          <a:prstGeom prst="ellipse">
            <a:avLst/>
          </a:prstGeom>
          <a:solidFill>
            <a:srgbClr val="FF6B9D">
              <a:alpha val="15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1887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Menschenrechte &amp; Malala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Lernkarten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0" y="3840480"/>
            <a:ext cx="1828800" cy="36576"/>
          </a:xfrm>
          <a:prstGeom prst="rect">
            <a:avLst/>
          </a:prstGeom>
          <a:solidFill>
            <a:srgbClr val="FF6B9D"/>
          </a:solidFill>
          <a:ln/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0" cy="109728"/>
          </a:xfrm>
          <a:prstGeom prst="roundRect">
            <a:avLst>
              <a:gd name="adj" fmla="val 50000"/>
            </a:avLst>
          </a:prstGeom>
          <a:solidFill>
            <a:srgbClr val="2A2A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7596554" cy="109728"/>
          </a:xfrm>
          <a:prstGeom prst="roundRect">
            <a:avLst>
              <a:gd name="adj" fmla="val 50000"/>
            </a:avLst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Karte 12 von 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26080" y="86868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FF6B9D">
              <a:alpha val="20000"/>
            </a:srgbClr>
          </a:solidFill>
          <a:ln w="12700">
            <a:solidFill>
              <a:srgbClr val="FF6B9D">
                <a:alpha val="5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91440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29000" y="868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Menschenrechte &amp; Malala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097280" y="1554480"/>
            <a:ext cx="6949440" cy="2377440"/>
          </a:xfrm>
          <a:prstGeom prst="roundRect">
            <a:avLst>
              <a:gd name="adj" fmla="val 7692"/>
            </a:avLst>
          </a:prstGeom>
          <a:solidFill>
            <a:srgbClr val="242447"/>
          </a:solidFill>
          <a:ln w="19050">
            <a:solidFill>
              <a:srgbClr val="3A3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463040" y="1645920"/>
            <a:ext cx="6217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sind Menschenrechte?</a:t>
            </a:r>
            <a:endParaRPr lang="en-US" sz="2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42062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14800" y="4206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 für die Lösung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0" cy="109728"/>
          </a:xfrm>
          <a:prstGeom prst="roundRect">
            <a:avLst>
              <a:gd name="adj" fmla="val 50000"/>
            </a:avLst>
          </a:prstGeom>
          <a:solidFill>
            <a:srgbClr val="2A2A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7596554" cy="109728"/>
          </a:xfrm>
          <a:prstGeom prst="roundRect">
            <a:avLst>
              <a:gd name="adj" fmla="val 50000"/>
            </a:avLst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Karte 12 von 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26080" y="86868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FF6B9D">
              <a:alpha val="20000"/>
            </a:srgbClr>
          </a:solidFill>
          <a:ln w="12700">
            <a:solidFill>
              <a:srgbClr val="FF6B9D">
                <a:alpha val="5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91440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29000" y="868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Menschenrechte &amp; Malala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097280" y="1554480"/>
            <a:ext cx="6949440" cy="2377440"/>
          </a:xfrm>
          <a:prstGeom prst="roundRect">
            <a:avLst>
              <a:gd name="adj" fmla="val 7692"/>
            </a:avLst>
          </a:prstGeom>
          <a:solidFill>
            <a:srgbClr val="1A3A38"/>
          </a:solidFill>
          <a:ln w="25400">
            <a:solidFill>
              <a:srgbClr val="4ECD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463040" y="16916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sind Menschenrechte?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463040" y="2103120"/>
            <a:ext cx="621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Rechte, die jedem Menschen von Geburt an zustehen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(z.B. Freiheit und Gleichheit).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 schützen vor Unterdrückung.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4400" y="4206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Einprägen und weiter!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0" cy="109728"/>
          </a:xfrm>
          <a:prstGeom prst="roundRect">
            <a:avLst>
              <a:gd name="adj" fmla="val 50000"/>
            </a:avLst>
          </a:prstGeom>
          <a:solidFill>
            <a:srgbClr val="2A2A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8229600" cy="109728"/>
          </a:xfrm>
          <a:prstGeom prst="roundRect">
            <a:avLst>
              <a:gd name="adj" fmla="val 50000"/>
            </a:avLst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Karte 13 von 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26080" y="86868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FF6B9D">
              <a:alpha val="20000"/>
            </a:srgbClr>
          </a:solidFill>
          <a:ln w="12700">
            <a:solidFill>
              <a:srgbClr val="FF6B9D">
                <a:alpha val="5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91440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29000" y="868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Menschenrechte &amp; Malala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097280" y="1554480"/>
            <a:ext cx="6949440" cy="2377440"/>
          </a:xfrm>
          <a:prstGeom prst="roundRect">
            <a:avLst>
              <a:gd name="adj" fmla="val 7692"/>
            </a:avLst>
          </a:prstGeom>
          <a:solidFill>
            <a:srgbClr val="242447"/>
          </a:solidFill>
          <a:ln w="19050">
            <a:solidFill>
              <a:srgbClr val="3A3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463040" y="1645920"/>
            <a:ext cx="6217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ist Malala Yousafzai?</a:t>
            </a:r>
            <a:endParaRPr lang="en-US" sz="2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42062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14800" y="4206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 für die Lösung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0" cy="109728"/>
          </a:xfrm>
          <a:prstGeom prst="roundRect">
            <a:avLst>
              <a:gd name="adj" fmla="val 50000"/>
            </a:avLst>
          </a:prstGeom>
          <a:solidFill>
            <a:srgbClr val="2A2A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8229600" cy="109728"/>
          </a:xfrm>
          <a:prstGeom prst="roundRect">
            <a:avLst>
              <a:gd name="adj" fmla="val 50000"/>
            </a:avLst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Karte 13 von 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26080" y="86868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FF6B9D">
              <a:alpha val="20000"/>
            </a:srgbClr>
          </a:solidFill>
          <a:ln w="12700">
            <a:solidFill>
              <a:srgbClr val="FF6B9D">
                <a:alpha val="5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91440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29000" y="868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Menschenrechte &amp; Malala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097280" y="1554480"/>
            <a:ext cx="6949440" cy="2377440"/>
          </a:xfrm>
          <a:prstGeom prst="roundRect">
            <a:avLst>
              <a:gd name="adj" fmla="val 7692"/>
            </a:avLst>
          </a:prstGeom>
          <a:solidFill>
            <a:srgbClr val="1A3A38"/>
          </a:solidFill>
          <a:ln w="25400">
            <a:solidFill>
              <a:srgbClr val="4ECD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463040" y="16916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ist Malala Yousafzai?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463040" y="2103120"/>
            <a:ext cx="621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Kämpferin für das Recht auf Bildung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(besonders für Mädchen).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 erhielt 2014 den Friedensnobelpreis.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4400" y="4206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Einprägen und weiter!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FFE66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4ECDC4">
              <a:alpha val="1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8288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Geschafft!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1371600" y="27432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gemacht! Wiederholung ist der Schlüssel.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 einfach nochmal von vorne!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657600" y="3931920"/>
            <a:ext cx="1828800" cy="36576"/>
          </a:xfrm>
          <a:prstGeom prst="rect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Absolutismus, Aufklärung &amp; Schweiz – Lernkarten</dc:title>
  <dc:subject>PptxGenJS Presentation</dc:subject>
  <dc:creator>Lernkarten App</dc:creator>
  <cp:lastModifiedBy>Lernkarten App</cp:lastModifiedBy>
  <cp:revision>1</cp:revision>
  <dcterms:created xsi:type="dcterms:W3CDTF">2026-03-05T12:08:49Z</dcterms:created>
  <dcterms:modified xsi:type="dcterms:W3CDTF">2026-03-05T12:08:49Z</dcterms:modified>
</cp:coreProperties>
</file>